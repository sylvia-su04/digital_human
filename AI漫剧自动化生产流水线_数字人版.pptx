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8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本次汇报的数字人助手。今天为大家介绍我们的AI漫剧自动化生产流水线项目。传统漫剧制作依赖大量人工，周期长成本高，我们用ComfyUI搭建了一套全AI驱动的五段式流水线，把漫剧生产从手工艺模式升级为可复现的流水线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定位是一站式AI视频内容生产平台。用户只需要输入文字剧本或口播文案，就能一键输出可发布的漫剧短片和数字人口播视频。平台有三大核心价值：低门槛，不需要任何绘画动画基础；高效率，单集从周级压缩到小时级；可复现，工作流可以保存分享，角色风格100%一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架构以ComfyUI为核心编排平台，上层是六大功能模块：文生图、姿态控制、角色一致性、动画生成、唇形同步和后期合成。底层模型总量约18GB，包括SD底模、ControlNet、DWPose、IPAdapter、AnimateDiff和SadTalker。所有模块通过节点连接，工作流可保存可复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成果展示是AI漫剧短片，这也是整个平台的核心产出。从文字剧本开始，经过角色生成、分镜、动画、唇形到最终成片，全部由AI自动完成。亮点包括全AI生成、角色一致性、自然运镜和自动配音配乐。成片规格为720p、24fps、15到30秒。这里预录了20秒的完整成片，请大家观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成果是批量生成能力。平台支持一次配置批量产出角色形象和分镜画面。角色方面，同一底模配合不同提示词，分钟级就能产出多个角色。分镜方面，角色特征锁定后，一次可以批量生成10张以上分镜，风格完全一致。配合多GPU并行队列，效率随显卡数量线性增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用户视角看，平台使用非常简单，只需要五步：第一步输入漫剧剧本或口播文案；第二步从角色库选择或文字生成角色；第三步配置分镜姿态、运镜和配音音色；第四步一键生成，全流程自动执行；第五步导出标准MP4直接发布。全程可视化操作，不需要写代码，工作流还可以保存复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有三个升级方向：第一是图生视频模型升级，从AnimateDiff升级到SVD或可灵等新一代模型，获得更长时长和更流畅的运动；第二是多角色一致性，支持多角色同框和角色关系管理；第三是批量自动化，实现从剧本到成片的真正一键生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7.wav"/><Relationship Id="rId7" Type="http://schemas.openxmlformats.org/officeDocument/2006/relationships/image" Target="../media/image4.jp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audio" Target="../media/media7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microsoft.com/office/2007/relationships/media" Target="../media/media8.wav"/><Relationship Id="rId1" Type="http://schemas.openxmlformats.org/officeDocument/2006/relationships/audio" Target="NULL" TargetMode="External"/><Relationship Id="rId6" Type="http://schemas.openxmlformats.org/officeDocument/2006/relationships/image" Target="../media/image5.jp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png"/><Relationship Id="rId2" Type="http://schemas.microsoft.com/office/2007/relationships/media" Target="../media/media8.wav"/><Relationship Id="rId1" Type="http://schemas.openxmlformats.org/officeDocument/2006/relationships/audio" Target="NULL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2026年AI漫剧制作平台与AI漫剧软件推荐，主流工具全盘点 - 品牌2025 - 企业博客">
            <a:extLst>
              <a:ext uri="{FF2B5EF4-FFF2-40B4-BE49-F238E27FC236}">
                <a16:creationId xmlns:a16="http://schemas.microsoft.com/office/drawing/2014/main" id="{9E80DC1B-11AC-90B5-C6BD-799F596AF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33" y="-113"/>
            <a:ext cx="12195934" cy="6981015"/>
          </a:xfrm>
          <a:prstGeom prst="rect">
            <a:avLst/>
          </a:prstGeom>
        </p:spPr>
      </p:pic>
      <p:sp>
        <p:nvSpPr>
          <p:cNvPr id="15" name="流程图: 手动输入 14">
            <a:extLst>
              <a:ext uri="{FF2B5EF4-FFF2-40B4-BE49-F238E27FC236}">
                <a16:creationId xmlns:a16="http://schemas.microsoft.com/office/drawing/2014/main" id="{2866FA31-5273-7C15-C74E-1F922A1EC255}"/>
              </a:ext>
            </a:extLst>
          </p:cNvPr>
          <p:cNvSpPr/>
          <p:nvPr/>
        </p:nvSpPr>
        <p:spPr>
          <a:xfrm rot="16200000" flipV="1">
            <a:off x="369201" y="-146992"/>
            <a:ext cx="6740011" cy="7269971"/>
          </a:xfrm>
          <a:prstGeom prst="flowChartManualInpu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659345" y="1641875"/>
            <a:ext cx="769511" cy="38176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81781" y="1882294"/>
            <a:ext cx="6714849" cy="152704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AI 漫剧自动化生产流水线</a:t>
            </a:r>
          </a:p>
        </p:txBody>
      </p:sp>
      <p:sp>
        <p:nvSpPr>
          <p:cNvPr id="5" name="AutoShape 5"/>
          <p:cNvSpPr/>
          <p:nvPr/>
        </p:nvSpPr>
        <p:spPr>
          <a:xfrm>
            <a:off x="480338" y="3169281"/>
            <a:ext cx="6412594" cy="6362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 AI 把漫剧生产从"手工艺"变成"流水线"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686635" y="6214866"/>
            <a:ext cx="5130075" cy="381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ComfyUI 全链路技术实践 · 2026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75868" y="1419135"/>
            <a:ext cx="143634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174762" y="1340593"/>
            <a:ext cx="143634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9" name="VIDEO_SLOT_1"/>
          <p:cNvSpPr/>
          <p:nvPr/>
        </p:nvSpPr>
        <p:spPr>
          <a:xfrm>
            <a:off x="658368" y="4315968"/>
            <a:ext cx="1463040" cy="1463040"/>
          </a:xfrm>
          <a:prstGeom prst="rect">
            <a:avLst/>
          </a:prstGeom>
          <a:noFill/>
          <a:ln w="1270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/>
            <a:r>
              <a:rPr sz="629">
                <a:solidFill>
                  <a:srgbClr val="475569"/>
                </a:solidFill>
                <a:latin typeface="Microsoft YaHei"/>
              </a:rPr>
              <a:t>数字人视频</a:t>
            </a:r>
          </a:p>
        </p:txBody>
      </p:sp>
      <p:pic>
        <p:nvPicPr>
          <p:cNvPr id="10" name="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6823" y="4407391"/>
            <a:ext cx="1463040" cy="146304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C573D63-1CB1-5E65-D3B8-A35A33DE8B80}"/>
              </a:ext>
            </a:extLst>
          </p:cNvPr>
          <p:cNvCxnSpPr/>
          <p:nvPr/>
        </p:nvCxnSpPr>
        <p:spPr>
          <a:xfrm flipH="1">
            <a:off x="6017342" y="117987"/>
            <a:ext cx="1465006" cy="6740012"/>
          </a:xfrm>
          <a:prstGeom prst="line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889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传统漫剧制作：六步手工艺，周期长成本高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编剧</a:t>
            </a:r>
            <a:endParaRPr lang="en-US"/>
          </a:p>
        </p:txBody>
      </p:sp>
      <p:cxnSp>
        <p:nvCxnSpPr>
          <p:cNvPr id="5" name="Connector 5"/>
          <p:cNvCxnSpPr/>
          <p:nvPr/>
        </p:nvCxnSpPr>
        <p:spPr>
          <a:xfrm rot="-171744">
            <a:off x="2286159" y="2368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6" name="AutoShape 6"/>
          <p:cNvSpPr/>
          <p:nvPr/>
        </p:nvSpPr>
        <p:spPr>
          <a:xfrm>
            <a:off x="2603500" y="1905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画师</a:t>
            </a:r>
            <a:endParaRPr lang="en-US"/>
          </a:p>
        </p:txBody>
      </p:sp>
      <p:cxnSp>
        <p:nvCxnSpPr>
          <p:cNvPr id="7" name="Connector 7"/>
          <p:cNvCxnSpPr/>
          <p:nvPr/>
        </p:nvCxnSpPr>
        <p:spPr>
          <a:xfrm rot="-171744">
            <a:off x="4127659" y="2368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4445000" y="1905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上色</a:t>
            </a:r>
            <a:endParaRPr lang="en-US"/>
          </a:p>
        </p:txBody>
      </p:sp>
      <p:cxnSp>
        <p:nvCxnSpPr>
          <p:cNvPr id="9" name="Connector 9"/>
          <p:cNvCxnSpPr/>
          <p:nvPr/>
        </p:nvCxnSpPr>
        <p:spPr>
          <a:xfrm rot="-171744">
            <a:off x="5969159" y="2368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6286500" y="1905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动画</a:t>
            </a:r>
            <a:endParaRPr lang="en-US"/>
          </a:p>
        </p:txBody>
      </p:sp>
      <p:cxnSp>
        <p:nvCxnSpPr>
          <p:cNvPr id="11" name="Connector 11"/>
          <p:cNvCxnSpPr/>
          <p:nvPr/>
        </p:nvCxnSpPr>
        <p:spPr>
          <a:xfrm rot="-171744">
            <a:off x="7810659" y="2368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8128000" y="1905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配音</a:t>
            </a:r>
            <a:endParaRPr lang="en-US"/>
          </a:p>
        </p:txBody>
      </p:sp>
      <p:cxnSp>
        <p:nvCxnSpPr>
          <p:cNvPr id="13" name="Connector 13"/>
          <p:cNvCxnSpPr/>
          <p:nvPr/>
        </p:nvCxnSpPr>
        <p:spPr>
          <a:xfrm rot="-171744">
            <a:off x="9652159" y="23685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9969500" y="1905000"/>
            <a:ext cx="1460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剪辑</a:t>
            </a:r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762000" y="342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</a:t>
            </a:r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533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50000"/>
              </a:lnSpc>
              <a:buClr>
                <a:srgbClr val="D97706"/>
              </a:buClr>
              <a:buChar char="•"/>
              <a:defRPr/>
            </a:pPr>
            <a:r>
              <a:rPr lang="en-US" sz="1800" b="0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周期长</a:t>
            </a: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：单集 2-4 周，多环节串行等待</a:t>
            </a:r>
            <a:endParaRPr lang="en-US"/>
          </a:p>
          <a:p>
            <a:pPr marL="177800" indent="-177800" algn="l">
              <a:lnSpc>
                <a:spcPct val="150000"/>
              </a:lnSpc>
              <a:buClr>
                <a:srgbClr val="D97706"/>
              </a:buClr>
              <a:buChar char="•"/>
            </a:pPr>
            <a:r>
              <a:rPr lang="en-US" sz="1800" b="0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成本高</a:t>
            </a: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：需 6-8 人专业团队，人力投入大</a:t>
            </a:r>
          </a:p>
          <a:p>
            <a:pPr marL="177800" indent="-177800" algn="l">
              <a:lnSpc>
                <a:spcPct val="150000"/>
              </a:lnSpc>
              <a:buClr>
                <a:srgbClr val="D97706"/>
              </a:buClr>
              <a:buChar char="•"/>
            </a:pPr>
            <a:r>
              <a:rPr lang="en-US" sz="1800" b="0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不可复现</a:t>
            </a: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：依赖画师个人风格，换人手即断档</a:t>
            </a:r>
          </a:p>
          <a:p>
            <a:pPr marL="177800" indent="-177800" algn="l">
              <a:lnSpc>
                <a:spcPct val="150000"/>
              </a:lnSpc>
              <a:buClr>
                <a:srgbClr val="D97706"/>
              </a:buClr>
              <a:buChar char="•"/>
            </a:pPr>
            <a:r>
              <a:rPr lang="en-US" sz="1800" b="0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修改难</a:t>
            </a: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：任一环节变动需下游全部返工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604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单集典型投入</a:t>
            </a:r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6604000" y="3937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6666"/>
              </a:lnSpc>
              <a:defRPr/>
            </a:pP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制作周期：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14-28 天</a:t>
            </a:r>
            <a:endParaRPr lang="en-US"/>
          </a:p>
          <a:p>
            <a:pPr marL="0" indent="0" algn="l">
              <a:lnSpc>
                <a:spcPct val="166666"/>
              </a:lnSpc>
            </a:pP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团队规模：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6-8 人</a:t>
            </a:r>
          </a:p>
          <a:p>
            <a:pPr marL="0" indent="0" algn="l">
              <a:lnSpc>
                <a:spcPct val="166666"/>
              </a:lnSpc>
            </a:pP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人力成本：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数万元/集</a:t>
            </a:r>
          </a:p>
          <a:p>
            <a:pPr marL="0" indent="0" algn="l">
              <a:lnSpc>
                <a:spcPct val="166666"/>
              </a:lnSpc>
            </a:pP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风格一致性：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依赖个人</a:t>
            </a:r>
          </a:p>
        </p:txBody>
      </p:sp>
      <p:pic>
        <p:nvPicPr>
          <p:cNvPr id="20" name="1B">
            <a:hlinkClick r:id="" action="ppaction://media"/>
            <a:extLst>
              <a:ext uri="{FF2B5EF4-FFF2-40B4-BE49-F238E27FC236}">
                <a16:creationId xmlns:a16="http://schemas.microsoft.com/office/drawing/2014/main" id="{167487A5-A5C7-70D9-7EBE-075FB8A042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389977" y="270274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平台定位：一站式 AI 视频内容生产平台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460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输入文字剧本或口播文案，一键输出可发布的漫剧短片与数字人口播视频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65500" cy="2540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200"/>
          </a:p>
        </p:txBody>
      </p:sp>
      <p:sp>
        <p:nvSpPr>
          <p:cNvPr id="7" name="AutoShape 7"/>
          <p:cNvSpPr/>
          <p:nvPr/>
        </p:nvSpPr>
        <p:spPr>
          <a:xfrm>
            <a:off x="1016000" y="311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低门槛</a:t>
            </a:r>
            <a:endParaRPr lang="en-US" sz="1200"/>
          </a:p>
        </p:txBody>
      </p:sp>
      <p:cxnSp>
        <p:nvCxnSpPr>
          <p:cNvPr id="8" name="Connector 8"/>
          <p:cNvCxnSpPr/>
          <p:nvPr/>
        </p:nvCxnSpPr>
        <p:spPr>
          <a:xfrm rot="-57290">
            <a:off x="1016053" y="3549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016000" y="3746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无需绘画、动画或配音基础</a:t>
            </a:r>
            <a:endParaRPr lang="en-US" sz="1200"/>
          </a:p>
          <a:p>
            <a:pPr marL="0" indent="0" algn="l">
              <a:lnSpc>
                <a:spcPct val="133333"/>
              </a:lnSpc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纯文字驱动全流程生成</a:t>
            </a:r>
          </a:p>
          <a:p>
            <a:pPr marL="0" indent="0" algn="l">
              <a:lnSpc>
                <a:spcPct val="133333"/>
              </a:lnSpc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可视化节点操作，所见即所得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06900" y="2159000"/>
            <a:ext cx="3365500" cy="2540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1"/>
          <p:cNvSpPr/>
          <p:nvPr/>
        </p:nvSpPr>
        <p:spPr>
          <a:xfrm>
            <a:off x="4660900" y="2413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200"/>
          </a:p>
        </p:txBody>
      </p:sp>
      <p:sp>
        <p:nvSpPr>
          <p:cNvPr id="12" name="AutoShape 12"/>
          <p:cNvSpPr/>
          <p:nvPr/>
        </p:nvSpPr>
        <p:spPr>
          <a:xfrm>
            <a:off x="4660900" y="311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高效率</a:t>
            </a:r>
            <a:endParaRPr lang="en-US" sz="1200"/>
          </a:p>
        </p:txBody>
      </p:sp>
      <p:cxnSp>
        <p:nvCxnSpPr>
          <p:cNvPr id="13" name="Connector 13"/>
          <p:cNvCxnSpPr/>
          <p:nvPr/>
        </p:nvCxnSpPr>
        <p:spPr>
          <a:xfrm rot="-57290">
            <a:off x="4660953" y="3549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4660900" y="3746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单集产出从周级压缩到小时级</a:t>
            </a:r>
            <a:endParaRPr lang="en-US" sz="1200"/>
          </a:p>
          <a:p>
            <a:pPr marL="0" indent="0" algn="l">
              <a:lnSpc>
                <a:spcPct val="133333"/>
              </a:lnSpc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全流程脚本化，一条命令出片</a:t>
            </a:r>
          </a:p>
          <a:p>
            <a:pPr marL="0" indent="0" algn="l">
              <a:lnSpc>
                <a:spcPct val="133333"/>
              </a:lnSpc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多 GPU 并行，批量生产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64500" y="2159000"/>
            <a:ext cx="3365500" cy="2540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6" name="AutoShape 16"/>
          <p:cNvSpPr/>
          <p:nvPr/>
        </p:nvSpPr>
        <p:spPr>
          <a:xfrm>
            <a:off x="8318500" y="2413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200"/>
          </a:p>
        </p:txBody>
      </p:sp>
      <p:sp>
        <p:nvSpPr>
          <p:cNvPr id="17" name="AutoShape 17"/>
          <p:cNvSpPr/>
          <p:nvPr/>
        </p:nvSpPr>
        <p:spPr>
          <a:xfrm>
            <a:off x="8318500" y="311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可复现</a:t>
            </a:r>
            <a:endParaRPr lang="en-US" sz="1200"/>
          </a:p>
        </p:txBody>
      </p:sp>
      <p:cxnSp>
        <p:nvCxnSpPr>
          <p:cNvPr id="18" name="Connector 18"/>
          <p:cNvCxnSpPr/>
          <p:nvPr/>
        </p:nvCxnSpPr>
        <p:spPr>
          <a:xfrm rot="-57290">
            <a:off x="8318553" y="3549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" name="AutoShape 19"/>
          <p:cNvSpPr/>
          <p:nvPr/>
        </p:nvSpPr>
        <p:spPr>
          <a:xfrm>
            <a:off x="8318500" y="3746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工作流可保存、可分享、可复用</a:t>
            </a:r>
            <a:endParaRPr lang="en-US" sz="1200"/>
          </a:p>
          <a:p>
            <a:pPr marL="0" indent="0" algn="l">
              <a:lnSpc>
                <a:spcPct val="133333"/>
              </a:lnSpc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角色特征锁定，跨集风格一致</a:t>
            </a:r>
          </a:p>
          <a:p>
            <a:pPr marL="0" indent="0" algn="l">
              <a:lnSpc>
                <a:spcPct val="133333"/>
              </a:lnSpc>
            </a:pPr>
            <a:r>
              <a:rPr lang="en-US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改参数重跑，修改成本极低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270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两大产出类型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 漫剧短片 ｜ AI 数字人口播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096000" y="5270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适用用户</a:t>
            </a:r>
            <a:endParaRPr lang="en-US" sz="1100"/>
          </a:p>
          <a:p>
            <a:pPr marL="0" indent="0" algn="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内容创作者 ｜ 教育机构 ｜ 品牌营销</a:t>
            </a:r>
          </a:p>
        </p:txBody>
      </p:sp>
      <p:pic>
        <p:nvPicPr>
          <p:cNvPr id="24" name="2A">
            <a:hlinkClick r:id="" action="ppaction://media"/>
            <a:extLst>
              <a:ext uri="{FF2B5EF4-FFF2-40B4-BE49-F238E27FC236}">
                <a16:creationId xmlns:a16="http://schemas.microsoft.com/office/drawing/2014/main" id="{369F54E2-3204-C334-C298-D2A61F441B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76790" y="342900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6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889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技术架构：ComfyUI 平台 + 六大模块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587500"/>
            <a:ext cx="6731000" cy="50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12700" cap="flat" cmpd="sng">
            <a:solidFill>
              <a:srgbClr val="38BDF8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ComfyUI 节点编排平台</a:t>
            </a:r>
            <a:endParaRPr lang="en-US"/>
          </a:p>
        </p:txBody>
      </p:sp>
      <p:cxnSp>
        <p:nvCxnSpPr>
          <p:cNvPr id="5" name="Connector 5"/>
          <p:cNvCxnSpPr/>
          <p:nvPr/>
        </p:nvCxnSpPr>
        <p:spPr>
          <a:xfrm rot="5228255">
            <a:off x="4000500" y="22163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2413000"/>
            <a:ext cx="2095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文生图</a:t>
            </a:r>
            <a:endParaRPr lang="en-US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Counterfeit-V3.0</a:t>
            </a:r>
          </a:p>
        </p:txBody>
      </p:sp>
      <p:sp>
        <p:nvSpPr>
          <p:cNvPr id="7" name="AutoShape 7"/>
          <p:cNvSpPr/>
          <p:nvPr/>
        </p:nvSpPr>
        <p:spPr>
          <a:xfrm>
            <a:off x="3073400" y="2413000"/>
            <a:ext cx="2095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姿态控制</a:t>
            </a:r>
            <a:endParaRPr lang="en-US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DWPose + ControlNet</a:t>
            </a:r>
          </a:p>
        </p:txBody>
      </p:sp>
      <p:sp>
        <p:nvSpPr>
          <p:cNvPr id="8" name="AutoShape 8"/>
          <p:cNvSpPr/>
          <p:nvPr/>
        </p:nvSpPr>
        <p:spPr>
          <a:xfrm>
            <a:off x="5397500" y="2413000"/>
            <a:ext cx="2095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角色一致</a:t>
            </a:r>
            <a:endParaRPr lang="en-US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IPAdapter Plus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2095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动画生成</a:t>
            </a:r>
            <a:endParaRPr lang="en-US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AnimateDiff + LoRA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073400" y="3556000"/>
            <a:ext cx="2095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唇形同步</a:t>
            </a:r>
            <a:endParaRPr lang="en-US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SadTalker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397500" y="3556000"/>
            <a:ext cx="2095500" cy="952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后期合成</a:t>
            </a:r>
            <a:endParaRPr lang="en-US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ffmpeg</a:t>
            </a:r>
          </a:p>
        </p:txBody>
      </p:sp>
      <p:cxnSp>
        <p:nvCxnSpPr>
          <p:cNvPr id="12" name="Connector 12"/>
          <p:cNvCxnSpPr/>
          <p:nvPr/>
        </p:nvCxnSpPr>
        <p:spPr>
          <a:xfrm rot="5228255">
            <a:off x="4000500" y="46293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762000" y="4826000"/>
            <a:ext cx="6731000" cy="508000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  <a:alpha val="15000"/>
            </a:scheme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输出：MP4 漫剧短片（视频与音频合流）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1587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模型清单（约 18 GB）</a:t>
            </a:r>
            <a:endParaRPr lang="en-US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8001000" y="2095500"/>
          <a:ext cx="3556000" cy="3238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体积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SD 底模 Counterfeit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4.0 GB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ControlNet OpenPose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2.5 GB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DWPose 检测模型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1.0 GB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IPAdapter 模型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1.5 GB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AnimateDiff 运动模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4.0 GB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SadTalker 全套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5.0 GB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18 GB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AutoShape 16"/>
          <p:cNvSpPr/>
          <p:nvPr/>
        </p:nvSpPr>
        <p:spPr>
          <a:xfrm>
            <a:off x="762000" y="5651500"/>
            <a:ext cx="673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所有模块通过 ComfyUI 节点连接，工作流可保存、可复现、可批量执行</a:t>
            </a:r>
            <a:endParaRPr lang="en-US"/>
          </a:p>
        </p:txBody>
      </p:sp>
      <p:pic>
        <p:nvPicPr>
          <p:cNvPr id="18" name="2B">
            <a:hlinkClick r:id="" action="ppaction://media"/>
            <a:extLst>
              <a:ext uri="{FF2B5EF4-FFF2-40B4-BE49-F238E27FC236}">
                <a16:creationId xmlns:a16="http://schemas.microsoft.com/office/drawing/2014/main" id="{51436A28-0C3B-1922-A6C7-A0F4192EEB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636500" y="331231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8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526" y="571500"/>
            <a:ext cx="11430596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平台五大核心能力</a:t>
            </a:r>
            <a:endParaRPr lang="en-US"/>
          </a:p>
        </p:txBody>
      </p:sp>
      <p:cxnSp>
        <p:nvCxnSpPr>
          <p:cNvPr id="3" name="Connector 3"/>
          <p:cNvCxnSpPr>
            <a:cxnSpLocks/>
          </p:cNvCxnSpPr>
          <p:nvPr/>
        </p:nvCxnSpPr>
        <p:spPr>
          <a:xfrm flipV="1">
            <a:off x="756263" y="1274857"/>
            <a:ext cx="857495" cy="242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685526" y="1460500"/>
            <a:ext cx="11430596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从文字到成片，全链路 AI 能力覆盖，每个环节独立可用、可组合</a:t>
            </a:r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736190" y="2032000"/>
            <a:ext cx="3394997" cy="219456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6" name="AutoShape 6"/>
          <p:cNvSpPr/>
          <p:nvPr/>
        </p:nvSpPr>
        <p:spPr>
          <a:xfrm>
            <a:off x="984863" y="2222500"/>
            <a:ext cx="8572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能力 01</a:t>
            </a:r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68614" y="2603500"/>
            <a:ext cx="328629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角色立绘</a:t>
            </a:r>
            <a:endParaRPr lang="en-US"/>
          </a:p>
        </p:txBody>
      </p:sp>
      <p:cxnSp>
        <p:nvCxnSpPr>
          <p:cNvPr id="8" name="Connector 8"/>
          <p:cNvCxnSpPr>
            <a:cxnSpLocks/>
          </p:cNvCxnSpPr>
          <p:nvPr/>
        </p:nvCxnSpPr>
        <p:spPr>
          <a:xfrm flipV="1">
            <a:off x="985628" y="3027456"/>
            <a:ext cx="743220" cy="242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968614" y="3175000"/>
            <a:ext cx="3286296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文字描述直接生成角色形象</a:t>
            </a:r>
            <a:endParaRPr lang="en-US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支持日漫 / 写实 / Q版多风格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 → </a:t>
            </a: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角色立绘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55690" y="2032000"/>
            <a:ext cx="3394997" cy="219456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1" name="AutoShape 11"/>
          <p:cNvSpPr/>
          <p:nvPr/>
        </p:nvSpPr>
        <p:spPr>
          <a:xfrm>
            <a:off x="4604363" y="2222500"/>
            <a:ext cx="8572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能力 02</a:t>
            </a:r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4588114" y="2603500"/>
            <a:ext cx="328629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分镜生成</a:t>
            </a:r>
            <a:endParaRPr lang="en-US"/>
          </a:p>
        </p:txBody>
      </p:sp>
      <p:cxnSp>
        <p:nvCxnSpPr>
          <p:cNvPr id="13" name="Connector 13"/>
          <p:cNvCxnSpPr>
            <a:cxnSpLocks/>
          </p:cNvCxnSpPr>
          <p:nvPr/>
        </p:nvCxnSpPr>
        <p:spPr>
          <a:xfrm flipV="1">
            <a:off x="4605128" y="3027456"/>
            <a:ext cx="743220" cy="242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4588114" y="3175000"/>
            <a:ext cx="3286296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姿态控制 + 角色一致性锁定</a:t>
            </a:r>
            <a:endParaRPr lang="en-US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指定动作、指定角色批量出图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姿态图 → </a:t>
            </a: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分镜图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975190" y="2032000"/>
            <a:ext cx="3394997" cy="219456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6" name="AutoShape 16"/>
          <p:cNvSpPr/>
          <p:nvPr/>
        </p:nvSpPr>
        <p:spPr>
          <a:xfrm>
            <a:off x="8223863" y="2222500"/>
            <a:ext cx="8572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能力 03</a:t>
            </a:r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8207614" y="2603500"/>
            <a:ext cx="328629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动画化</a:t>
            </a:r>
            <a:endParaRPr lang="en-US"/>
          </a:p>
        </p:txBody>
      </p:sp>
      <p:cxnSp>
        <p:nvCxnSpPr>
          <p:cNvPr id="18" name="Connector 18"/>
          <p:cNvCxnSpPr>
            <a:cxnSpLocks/>
          </p:cNvCxnSpPr>
          <p:nvPr/>
        </p:nvCxnSpPr>
        <p:spPr>
          <a:xfrm flipV="1">
            <a:off x="8224628" y="3027456"/>
            <a:ext cx="743220" cy="242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" name="AutoShape 19"/>
          <p:cNvSpPr/>
          <p:nvPr/>
        </p:nvSpPr>
        <p:spPr>
          <a:xfrm>
            <a:off x="8207614" y="3175000"/>
            <a:ext cx="3286296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静态图生成运镜短动画</a:t>
            </a:r>
            <a:endParaRPr lang="en-US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推拉摇移，镜头语言丰富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分镜图 → </a:t>
            </a: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动画片段</a:t>
            </a:r>
          </a:p>
        </p:txBody>
      </p:sp>
      <p:sp>
        <p:nvSpPr>
          <p:cNvPr id="20" name="AutoShape 20"/>
          <p:cNvSpPr/>
          <p:nvPr/>
        </p:nvSpPr>
        <p:spPr>
          <a:xfrm>
            <a:off x="2514190" y="4254500"/>
            <a:ext cx="3394997" cy="219456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21" name="AutoShape 21"/>
          <p:cNvSpPr/>
          <p:nvPr/>
        </p:nvSpPr>
        <p:spPr>
          <a:xfrm>
            <a:off x="2762863" y="4445000"/>
            <a:ext cx="8572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能力 04</a:t>
            </a:r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2746614" y="4826000"/>
            <a:ext cx="328629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口播唇形</a:t>
            </a:r>
            <a:endParaRPr lang="en-US"/>
          </a:p>
        </p:txBody>
      </p:sp>
      <p:cxnSp>
        <p:nvCxnSpPr>
          <p:cNvPr id="23" name="Connector 23"/>
          <p:cNvCxnSpPr>
            <a:cxnSpLocks/>
          </p:cNvCxnSpPr>
          <p:nvPr/>
        </p:nvCxnSpPr>
        <p:spPr>
          <a:xfrm flipV="1">
            <a:off x="2763628" y="5249956"/>
            <a:ext cx="743220" cy="242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AutoShape 24"/>
          <p:cNvSpPr/>
          <p:nvPr/>
        </p:nvSpPr>
        <p:spPr>
          <a:xfrm>
            <a:off x="2746614" y="5397500"/>
            <a:ext cx="3286296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音频驱动角色开口说话</a:t>
            </a:r>
            <a:endParaRPr lang="en-US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唇形同步 + 头部微动 + 眨眼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图+音频 → </a:t>
            </a: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说话视频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197190" y="4254500"/>
            <a:ext cx="3394997" cy="219456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26" name="AutoShape 26"/>
          <p:cNvSpPr/>
          <p:nvPr/>
        </p:nvSpPr>
        <p:spPr>
          <a:xfrm>
            <a:off x="6445863" y="4445000"/>
            <a:ext cx="8572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能力 05</a:t>
            </a:r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6429614" y="4826000"/>
            <a:ext cx="328629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成片合成</a:t>
            </a:r>
            <a:endParaRPr lang="en-US"/>
          </a:p>
        </p:txBody>
      </p:sp>
      <p:cxnSp>
        <p:nvCxnSpPr>
          <p:cNvPr id="28" name="Connector 28"/>
          <p:cNvCxnSpPr>
            <a:cxnSpLocks/>
          </p:cNvCxnSpPr>
          <p:nvPr/>
        </p:nvCxnSpPr>
        <p:spPr>
          <a:xfrm flipV="1">
            <a:off x="6446628" y="5249956"/>
            <a:ext cx="743220" cy="242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" name="AutoShape 29"/>
          <p:cNvSpPr/>
          <p:nvPr/>
        </p:nvSpPr>
        <p:spPr>
          <a:xfrm>
            <a:off x="6429614" y="5397500"/>
            <a:ext cx="3286296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片段拼接 + 音视频合流</a:t>
            </a:r>
            <a:endParaRPr lang="en-US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一键导出标准 MP4 成片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片段集 → </a:t>
            </a:r>
            <a:r>
              <a:rPr lang="en-US" sz="16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MP4 成片</a:t>
            </a:r>
          </a:p>
        </p:txBody>
      </p:sp>
      <p:pic>
        <p:nvPicPr>
          <p:cNvPr id="49" name="2C">
            <a:hlinkClick r:id="" action="ppaction://media"/>
            <a:extLst>
              <a:ext uri="{FF2B5EF4-FFF2-40B4-BE49-F238E27FC236}">
                <a16:creationId xmlns:a16="http://schemas.microsoft.com/office/drawing/2014/main" id="{BFEB33B3-EAFF-CED6-B997-24E9BB1EF8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57125" y="362981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0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成果展示 ① AI 数字人口播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460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输入文案，自动生成配音 + 对口型说话视频，无需真人出镜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77000" y="2095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口播效果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7290">
            <a:off x="6477053" y="253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6477000" y="2730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文字转语音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：多音色可选，支持中英文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唇形同步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：音频驱动，口型精准匹配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自然表情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：头部微动 + 眨眼 + 微表情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形象自定义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：动漫 / 写实 / 上传照片</a:t>
            </a:r>
          </a:p>
        </p:txBody>
      </p:sp>
      <p:sp>
        <p:nvSpPr>
          <p:cNvPr id="8" name="AutoShape 8"/>
          <p:cNvSpPr/>
          <p:nvPr/>
        </p:nvSpPr>
        <p:spPr>
          <a:xfrm>
            <a:off x="6477000" y="419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57290">
            <a:off x="6477053" y="4629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6477000" y="4826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知识科普视频 ｜ 产品介绍口播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虚拟主播带货 ｜ 企业培训课程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新闻资讯播报 ｜ 多语言翻译视频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2032000"/>
            <a:ext cx="5334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solidFill>
              <a:srgbClr val="3B82F6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视频展示区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（演示时插入实际视频播放）</a:t>
            </a:r>
          </a:p>
        </p:txBody>
      </p:sp>
      <p:pic>
        <p:nvPicPr>
          <p:cNvPr id="13" name="6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96696" y="2029968"/>
            <a:ext cx="3941063" cy="3941063"/>
          </a:xfrm>
          <a:prstGeom prst="rect">
            <a:avLst/>
          </a:prstGeom>
        </p:spPr>
      </p:pic>
      <p:pic>
        <p:nvPicPr>
          <p:cNvPr id="14" name="3B">
            <a:hlinkClick r:id="" action="ppaction://media"/>
            <a:extLst>
              <a:ext uri="{FF2B5EF4-FFF2-40B4-BE49-F238E27FC236}">
                <a16:creationId xmlns:a16="http://schemas.microsoft.com/office/drawing/2014/main" id="{9312F1BE-892E-6F52-679E-C480538C997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566958" y="342900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3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成果展示 ② AI 漫剧短片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460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全 AI 生成的漫剧短片，从剧本到成片无需人工绘画与动画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77000" y="2095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成片亮点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7290">
            <a:off x="6477053" y="253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6477000" y="2730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全 AI 生成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：文字剧本 → 角色 → 分镜 → 动画 → 成片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角色一致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：IPAdapter 锁定特征，跨分镜不走样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运镜自然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：推拉摇移，镜头语言丰富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配音配乐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：自动合流，音量归一化</a:t>
            </a:r>
          </a:p>
        </p:txBody>
      </p:sp>
      <p:sp>
        <p:nvSpPr>
          <p:cNvPr id="8" name="AutoShape 8"/>
          <p:cNvSpPr/>
          <p:nvPr/>
        </p:nvSpPr>
        <p:spPr>
          <a:xfrm>
            <a:off x="6477000" y="419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成片规格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57290">
            <a:off x="6477053" y="4629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6477000" y="4826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格式：MP4（H.264 + AAC）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分辨率：1280 x 720（720p HD）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帧率：24 fps ｜ 单集时长：15 - 30 秒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2032000"/>
            <a:ext cx="5334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solidFill>
              <a:srgbClr val="3B82F6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视频展示区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（演示时插入实际视频播放）</a:t>
            </a:r>
          </a:p>
        </p:txBody>
      </p:sp>
      <p:pic>
        <p:nvPicPr>
          <p:cNvPr id="14" name="3C">
            <a:hlinkClick r:id="" action="ppaction://media"/>
            <a:extLst>
              <a:ext uri="{FF2B5EF4-FFF2-40B4-BE49-F238E27FC236}">
                <a16:creationId xmlns:a16="http://schemas.microsoft.com/office/drawing/2014/main" id="{69F90936-2837-A335-79B0-A200D788093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10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86622" y="3294665"/>
            <a:ext cx="487363" cy="48736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9EAEE61-6EB4-C26C-3B06-7E02D0EA6B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0556" b="42593"/>
          <a:stretch>
            <a:fillRect/>
          </a:stretch>
        </p:blipFill>
        <p:spPr>
          <a:xfrm>
            <a:off x="687747" y="2286000"/>
            <a:ext cx="5482505" cy="32571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9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成果展示 ③ 批量角色与分镜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460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一次配置，批量产出角色形象与分镜画面，效率随 GPU 数量线性扩展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批量角色生成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角色 A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校服少女</a:t>
            </a:r>
          </a:p>
        </p:txBody>
      </p:sp>
      <p:sp>
        <p:nvSpPr>
          <p:cNvPr id="8" name="AutoShape 8"/>
          <p:cNvSpPr/>
          <p:nvPr/>
        </p:nvSpPr>
        <p:spPr>
          <a:xfrm>
            <a:off x="2476500" y="24765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476500" y="3238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角色 B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战斗少年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191000" y="24765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191000" y="3238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角色 C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神秘导师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同一底模 + 不同提示词，分钟级产出多角色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032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批量分镜产出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2476500"/>
            <a:ext cx="1524000" cy="101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00" y="2794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分镜 01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64500" y="2476500"/>
            <a:ext cx="1524000" cy="101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64500" y="2794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分镜 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79000" y="2476500"/>
            <a:ext cx="1524000" cy="101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779000" y="2794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分镜 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683000"/>
            <a:ext cx="1524000" cy="101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0" y="4000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分镜 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64500" y="3683000"/>
            <a:ext cx="1524000" cy="101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064500" y="4000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分镜 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779000" y="3683000"/>
            <a:ext cx="1524000" cy="101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779000" y="4000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分镜 06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45936" y="4864608"/>
            <a:ext cx="329184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角色特征锁定，一次批量生成 10+ 分镜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8952" y="5394960"/>
            <a:ext cx="9052560" cy="694944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014984" y="5522976"/>
            <a:ext cx="8503920" cy="5029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批量效率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：单批次 10+ 分镜 / 分钟级完成 ｜ 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扩展方式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：多 GPU 并行队列，效率随卡数线性增长</a:t>
            </a:r>
            <a:endParaRPr lang="en-US" sz="110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AA900AE-45EB-2BAD-3506-974DF995E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2387600"/>
            <a:ext cx="1534329" cy="2301494"/>
          </a:xfrm>
          <a:prstGeom prst="rect">
            <a:avLst/>
          </a:prstGeom>
        </p:spPr>
      </p:pic>
      <p:pic>
        <p:nvPicPr>
          <p:cNvPr id="34" name="3C">
            <a:hlinkClick r:id="" action="ppaction://media"/>
            <a:extLst>
              <a:ext uri="{FF2B5EF4-FFF2-40B4-BE49-F238E27FC236}">
                <a16:creationId xmlns:a16="http://schemas.microsoft.com/office/drawing/2014/main" id="{7706643F-0C66-588A-8241-1AE0CF9A1E8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586622" y="3294665"/>
            <a:ext cx="487363" cy="48736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4D14E96-08A8-46BB-B3CB-C9A2C51AD3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2031" y="2367280"/>
            <a:ext cx="1547876" cy="2321814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AEE1C12A-4F05-C86F-89E1-CF9FCDFA30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1687" y="2387600"/>
            <a:ext cx="1540933" cy="23114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015E6B8B-62AF-6544-81D5-DAE204F3AE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117" y="2437384"/>
            <a:ext cx="1593765" cy="2390648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01AFF0AC-7577-F815-CF46-A4BACF9F26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6183" y="2460752"/>
            <a:ext cx="1578187" cy="236728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607130BD-D17B-024D-6CF3-8D90E909EA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000" y="2460752"/>
            <a:ext cx="1578187" cy="23672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00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平台使用流程：五步出片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460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从输入文字到导出成片，用户只需五步，无需编写代码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19685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730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32385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输入内容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52884">
            <a:off x="1079549" y="367665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635000" y="38735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漫剧剧本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或口播文案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纯文字输入</a:t>
            </a:r>
          </a:p>
        </p:txBody>
      </p:sp>
      <p:cxnSp>
        <p:nvCxnSpPr>
          <p:cNvPr id="10" name="Connector 10"/>
          <p:cNvCxnSpPr/>
          <p:nvPr/>
        </p:nvCxnSpPr>
        <p:spPr>
          <a:xfrm rot="-114549">
            <a:off x="2476606" y="3676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2857500" y="2540000"/>
            <a:ext cx="19685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857500" y="2730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857500" y="32385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选择角色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52884">
            <a:off x="3429049" y="367665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2984500" y="38735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从角色库选择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或文字生成新角色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支持自定义上传</a:t>
            </a:r>
          </a:p>
        </p:txBody>
      </p:sp>
      <p:cxnSp>
        <p:nvCxnSpPr>
          <p:cNvPr id="16" name="Connector 16"/>
          <p:cNvCxnSpPr/>
          <p:nvPr/>
        </p:nvCxnSpPr>
        <p:spPr>
          <a:xfrm rot="-114549">
            <a:off x="4826106" y="3676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5207000" y="2540000"/>
            <a:ext cx="19685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207000" y="2730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07000" y="32385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配置分镜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52884">
            <a:off x="5778549" y="367665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1" name="AutoShape 21"/>
          <p:cNvSpPr/>
          <p:nvPr/>
        </p:nvSpPr>
        <p:spPr>
          <a:xfrm>
            <a:off x="5334000" y="38735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指定姿态与运镜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配置配音音色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可视化节点编排</a:t>
            </a:r>
          </a:p>
        </p:txBody>
      </p:sp>
      <p:cxnSp>
        <p:nvCxnSpPr>
          <p:cNvPr id="22" name="Connector 22"/>
          <p:cNvCxnSpPr/>
          <p:nvPr/>
        </p:nvCxnSpPr>
        <p:spPr>
          <a:xfrm rot="-114549">
            <a:off x="7175606" y="3676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7556500" y="2540000"/>
            <a:ext cx="19685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556500" y="2730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556500" y="32385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一键生成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52884">
            <a:off x="8128049" y="367665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7" name="AutoShape 27"/>
          <p:cNvSpPr/>
          <p:nvPr/>
        </p:nvSpPr>
        <p:spPr>
          <a:xfrm>
            <a:off x="7683500" y="38735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全流程自动执行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角色 → 分镜 → 动画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→ 唇形 → 合成</a:t>
            </a:r>
          </a:p>
        </p:txBody>
      </p:sp>
      <p:cxnSp>
        <p:nvCxnSpPr>
          <p:cNvPr id="28" name="Connector 28"/>
          <p:cNvCxnSpPr/>
          <p:nvPr/>
        </p:nvCxnSpPr>
        <p:spPr>
          <a:xfrm rot="-114549">
            <a:off x="9525106" y="3676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9" name="AutoShape 29"/>
          <p:cNvSpPr/>
          <p:nvPr/>
        </p:nvSpPr>
        <p:spPr>
          <a:xfrm>
            <a:off x="9906000" y="2540000"/>
            <a:ext cx="1968500" cy="2286000"/>
          </a:xfrm>
          <a:prstGeom prst="roundRect">
            <a:avLst>
              <a:gd name="adj" fmla="val 0"/>
            </a:avLst>
          </a:prstGeom>
          <a:solidFill>
            <a:srgbClr val="38BDF8">
              <a:alpha val="15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9906000" y="2730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906000" y="32385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导出发布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52884">
            <a:off x="10477549" y="367665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3" name="AutoShape 33"/>
          <p:cNvSpPr/>
          <p:nvPr/>
        </p:nvSpPr>
        <p:spPr>
          <a:xfrm>
            <a:off x="10033000" y="38735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标准 MP4 输出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直接发布平台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工作流可复用</a:t>
            </a:r>
          </a:p>
        </p:txBody>
      </p:sp>
      <p:sp>
        <p:nvSpPr>
          <p:cNvPr id="34" name="AutoShape 34"/>
          <p:cNvSpPr/>
          <p:nvPr/>
        </p:nvSpPr>
        <p:spPr>
          <a:xfrm>
            <a:off x="758952" y="5458968"/>
            <a:ext cx="8686800" cy="566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全程可视化操作，无需编写代码 ｜ 工作流可保存复用，下次出片只需替换文字内容</a:t>
            </a:r>
            <a:endParaRPr lang="en-US" sz="1100"/>
          </a:p>
        </p:txBody>
      </p:sp>
      <p:pic>
        <p:nvPicPr>
          <p:cNvPr id="36" name="4A">
            <a:hlinkClick r:id="" action="ppaction://media"/>
            <a:extLst>
              <a:ext uri="{FF2B5EF4-FFF2-40B4-BE49-F238E27FC236}">
                <a16:creationId xmlns:a16="http://schemas.microsoft.com/office/drawing/2014/main" id="{7C2CEC42-6F73-040B-0A63-4849BF3E56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635783" y="3452011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20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应用场景与商业价值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460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覆盖内容创作、教育、营销、IP 衍生等多领域，降本增效显著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90600" y="2222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短视频内容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66102">
            <a:off x="990661" y="26352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990600" y="2794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漫剧号 / 口播号批量产出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日更不再依赖人力团队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多账号矩阵运营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203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2222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在线教育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66102">
            <a:off x="4610161" y="26352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4610100" y="2794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课程动画与知识点讲解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虚拟讲师 7x24 授课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多语言版本一键生成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001000" y="203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229600" y="2222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品牌营销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66102">
            <a:off x="8229661" y="26352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8229600" y="2794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产品宣传片快速迭代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虚拟代言人 / 品牌 IP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多版本 A/B 测试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540000" y="3937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768600" y="4127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IP 衍生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66102">
            <a:off x="2768661" y="45402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0" name="AutoShape 20"/>
          <p:cNvSpPr/>
          <p:nvPr/>
        </p:nvSpPr>
        <p:spPr>
          <a:xfrm>
            <a:off x="2768600" y="4699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小说 / 漫画改编漫剧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低成本验证 IP 改编潜力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粉丝向内容快速产出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3937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51600" y="4127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虚拟主播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66102">
            <a:off x="6451661" y="45402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AutoShape 24"/>
          <p:cNvSpPr/>
          <p:nvPr/>
        </p:nvSpPr>
        <p:spPr>
          <a:xfrm>
            <a:off x="6451600" y="4699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24 小时不间断直播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多平台同步分发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无需真人出镜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58952" y="5843016"/>
            <a:ext cx="8869680" cy="566928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4984" y="5943600"/>
            <a:ext cx="859536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核心商业价值</a:t>
            </a:r>
            <a:r>
              <a:rPr lang="en-US" sz="13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：内容生产成本降低 99% ｜ 生产周期压缩 98% ｜ 产能随 GPU 线性扩展</a:t>
            </a:r>
            <a:endParaRPr lang="en-US" sz="1100"/>
          </a:p>
        </p:txBody>
      </p:sp>
      <p:pic>
        <p:nvPicPr>
          <p:cNvPr id="28" name="4B">
            <a:hlinkClick r:id="" action="ppaction://media"/>
            <a:extLst>
              <a:ext uri="{FF2B5EF4-FFF2-40B4-BE49-F238E27FC236}">
                <a16:creationId xmlns:a16="http://schemas.microsoft.com/office/drawing/2014/main" id="{9F327D1B-84C6-D78D-D276-362421C7D3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27628" y="338859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0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FDBFE">
                <a:alpha val="100000"/>
              </a:srgbClr>
            </a:gs>
            <a:gs pos="100000">
              <a:srgbClr val="93C5F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71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未来展望：三个升级方向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26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841500"/>
            <a:ext cx="3365500" cy="3937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285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图生视频模型升级</a:t>
            </a:r>
            <a:endParaRPr lang="en-US"/>
          </a:p>
        </p:txBody>
      </p:sp>
      <p:cxnSp>
        <p:nvCxnSpPr>
          <p:cNvPr id="7" name="Connector 7"/>
          <p:cNvCxnSpPr/>
          <p:nvPr/>
        </p:nvCxnSpPr>
        <p:spPr>
          <a:xfrm rot="-57290">
            <a:off x="1016053" y="3486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3683000"/>
            <a:ext cx="2857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 AnimateDiff 升级到</a:t>
            </a:r>
            <a:endParaRPr lang="en-US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SVD / 可灵等新一代</a:t>
            </a:r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图生视频模型</a:t>
            </a:r>
          </a:p>
          <a:p>
            <a:pPr marL="0" indent="0" algn="l">
              <a:lnSpc>
                <a:spcPct val="141666"/>
              </a:lnSpc>
            </a:pP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更长时长、更流畅运动</a:t>
            </a:r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更高画面质量</a:t>
            </a:r>
          </a:p>
        </p:txBody>
      </p:sp>
      <p:sp>
        <p:nvSpPr>
          <p:cNvPr id="9" name="AutoShape 9"/>
          <p:cNvSpPr/>
          <p:nvPr/>
        </p:nvSpPr>
        <p:spPr>
          <a:xfrm>
            <a:off x="4406900" y="1841500"/>
            <a:ext cx="3365500" cy="3937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0" name="AutoShape 10"/>
          <p:cNvSpPr/>
          <p:nvPr/>
        </p:nvSpPr>
        <p:spPr>
          <a:xfrm>
            <a:off x="4660900" y="2159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4660900" y="29210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Counterfeit</a:t>
            </a:r>
            <a:r>
              <a:rPr lang="zh-CN" alt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底模修改</a:t>
            </a:r>
            <a:endParaRPr lang="en-US"/>
          </a:p>
        </p:txBody>
      </p:sp>
      <p:cxnSp>
        <p:nvCxnSpPr>
          <p:cNvPr id="12" name="Connector 12"/>
          <p:cNvCxnSpPr/>
          <p:nvPr/>
        </p:nvCxnSpPr>
        <p:spPr>
          <a:xfrm rot="-57290">
            <a:off x="4660953" y="3486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4660900" y="3683000"/>
            <a:ext cx="2857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GhostMix（</a:t>
            </a:r>
            <a:r>
              <a:rPr lang="zh-CN" alt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日漫 </a:t>
            </a:r>
            <a:r>
              <a:rPr lang="en-US" altLang="zh-CN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+ </a:t>
            </a:r>
            <a:r>
              <a:rPr lang="zh-CN" alt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半写实平衡，科幻表现力强，推荐）</a:t>
            </a:r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DreamShaper 8（2.5D </a:t>
            </a:r>
            <a:r>
              <a:rPr lang="zh-CN" alt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全能，光影好）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65008" y="1837943"/>
            <a:ext cx="3364992" cy="3941063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5" name="AutoShape 15"/>
          <p:cNvSpPr/>
          <p:nvPr/>
        </p:nvSpPr>
        <p:spPr>
          <a:xfrm>
            <a:off x="8318500" y="2159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8321040" y="2916936"/>
            <a:ext cx="2286000" cy="4480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批量自动化</a:t>
            </a:r>
            <a:endParaRPr lang="en-US"/>
          </a:p>
        </p:txBody>
      </p:sp>
      <p:cxnSp>
        <p:nvCxnSpPr>
          <p:cNvPr id="17" name="Connector 17"/>
          <p:cNvCxnSpPr/>
          <p:nvPr/>
        </p:nvCxnSpPr>
        <p:spPr>
          <a:xfrm rot="-57290">
            <a:off x="8318553" y="3486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" name="AutoShape 18"/>
          <p:cNvSpPr/>
          <p:nvPr/>
        </p:nvSpPr>
        <p:spPr>
          <a:xfrm>
            <a:off x="8321040" y="3685032"/>
            <a:ext cx="2854960" cy="1773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剧本自动拆分镜</a:t>
            </a:r>
            <a:endParaRPr lang="en-US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全流程脚本化调度</a:t>
            </a:r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多 GPU 并行队列</a:t>
            </a:r>
          </a:p>
          <a:p>
            <a:pPr marL="0" indent="0" algn="l">
              <a:lnSpc>
                <a:spcPct val="141666"/>
              </a:lnSpc>
            </a:pP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从剧本到成片</a:t>
            </a:r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真正一键生成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874</Words>
  <Application>Microsoft Office PowerPoint</Application>
  <PresentationFormat>宽屏</PresentationFormat>
  <Paragraphs>248</Paragraphs>
  <Slides>11</Slides>
  <Notes>11</Notes>
  <HiddenSlides>0</HiddenSlides>
  <MMClips>11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Noto Sans SC</vt:lpstr>
      <vt:lpstr>微软雅黑</vt:lpstr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范籽粟</dc:creator>
  <cp:lastModifiedBy>Sylvia Su</cp:lastModifiedBy>
  <cp:revision>5</cp:revision>
  <dcterms:modified xsi:type="dcterms:W3CDTF">2026-09-07T12:44:48Z</dcterms:modified>
</cp:coreProperties>
</file>